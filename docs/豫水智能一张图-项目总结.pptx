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463040"/>
            <a:ext cx="4937760" cy="493776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65760"/>
            <a:ext cx="2651760" cy="2651760"/>
          </a:xfrm>
          <a:prstGeom prst="ellipse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5120640"/>
            <a:ext cx="4023360" cy="402336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" cy="128016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0584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FD9F2"/>
                </a:solidFill>
                <a:latin typeface="微软雅黑"/>
                <a:ea typeface="微软雅黑"/>
              </a:rPr>
              <a:t>豫水智能一张图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</a:rPr>
              <a:t>豫水智能一张图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7A9E0"/>
                </a:solidFill>
                <a:latin typeface="微软雅黑"/>
                <a:ea typeface="微软雅黑"/>
              </a:rPr>
              <a:t>AI 驱动的地理空间智能分析平台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E4F6"/>
                </a:solidFill>
                <a:latin typeface="微软雅黑"/>
                <a:ea typeface="微软雅黑"/>
              </a:rPr>
              <a:t>面向水利勘测  ·  河道采砂监管  ·  河道侵占识别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C3E4"/>
                </a:solidFill>
                <a:latin typeface="微软雅黑"/>
                <a:ea typeface="微软雅黑"/>
              </a:rPr>
              <a:t>项目总结汇报材料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806440"/>
            <a:ext cx="35661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9FC3E4"/>
                </a:solidFill>
                <a:latin typeface="微软雅黑"/>
                <a:ea typeface="微软雅黑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673352"/>
            <a:ext cx="731520" cy="731520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80136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60020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建设背景与业务痛点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075688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GIS 门槛高 · 巡查效率低 · 遥感周期长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41732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7" y="1673352"/>
            <a:ext cx="731520" cy="73152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7" y="180136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60020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项目定位与核心能力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075688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对话即操作，九大核心能力全景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7180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" y="3227832"/>
            <a:ext cx="731520" cy="731520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35584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15468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总体技术架构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30168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数据 / AI 引擎 / 服务 / 展示 四层协同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297180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10527" y="3227832"/>
            <a:ext cx="731520" cy="73152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7" y="335584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315468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智能体编排与工具体系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3630168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IntentAgent → Harness → LangGraph · 15+ 工具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52628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2688" y="4782312"/>
            <a:ext cx="731520" cy="731520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91032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70916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遥感检测与智能报告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5184648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SAM3 三阶段流水线 · 图斑后处理 · Word 报告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452628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10527" y="4782312"/>
            <a:ext cx="731520" cy="73152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7" y="491032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59" y="470916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应用场景与未来展望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59" y="5184648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河道监管 / 采砂管理 / 决策报表 / 培训问答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建设背景与业务痛点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82296" cy="301752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GIS 软件门槛高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1801368" cy="246887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专业空间分析依赖 ArcGIS / QGIS 等专业软件，基层人员难以掌握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37160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1371600"/>
            <a:ext cx="82296" cy="3017520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148132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河道巡查效率低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828800"/>
            <a:ext cx="1801368" cy="246887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人工比对影像与红线，侵占行为发现周期长、覆盖不全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37160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371600"/>
            <a:ext cx="82296" cy="301752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148132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遥感分析周期长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1828800"/>
            <a:ext cx="1801368" cy="246887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影像分割、变化检测、图斑筛选流程繁琐，单次分析数天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37160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371600"/>
            <a:ext cx="82296" cy="3017520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148132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报表工作重复枯燥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1828800"/>
            <a:ext cx="1801368" cy="246887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周报 / 月报需人工拼接数据、截图、图表，重复劳动大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371600"/>
            <a:ext cx="2148840" cy="3017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371600"/>
            <a:ext cx="82296" cy="301752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48132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政策法规查询难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1828800"/>
            <a:ext cx="1801368" cy="246887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规范条文分散于大量文档，检索费时、引用易出错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92040"/>
            <a:ext cx="11274552" cy="868680"/>
          </a:xfrm>
          <a:prstGeom prst="roundRect">
            <a:avLst>
              <a:gd name="adj" fmla="val 12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74920"/>
            <a:ext cx="106070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09A1F"/>
                </a:solidFill>
                <a:latin typeface="微软雅黑"/>
                <a:ea typeface="微软雅黑"/>
              </a:rPr>
              <a:t>目标：</a:t>
            </a: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用 AI 降低专业工具使用门槛 —— 一句话完成空间分析，让科技服务基层水利管理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项目定位与核心能力全景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11274552" cy="1051560"/>
          </a:xfrm>
          <a:prstGeom prst="roundRect">
            <a:avLst>
              <a:gd name="adj" fmla="val 12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7A9E0"/>
                </a:solidFill>
                <a:latin typeface="微软雅黑"/>
                <a:ea typeface="微软雅黑"/>
              </a:rPr>
              <a:t>一句话定位：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面向水利行业的多模态 AI 地理空间分析平台 —— 将大语言模型、计算机视觉与 GIS 深度融合，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以自然语言对话为核心入口，让专业 GIS 分析“像和人对话一样简单”。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146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262432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智能对话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" y="297180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LangGraph 多 Agent 协作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意图自动识别与分派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5146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51460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262432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2D/3D 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97180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Leaflet + Cesium 双引擎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矢量图层 / 高分影像叠加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5146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51460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262432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知识库问答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97180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水利规范 / 政策检索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RagFlow / LlamaIndex 双后端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9476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9476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3" y="390448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空间分析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3" y="425196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缓冲区 / 裁剪 / 叠加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QGIS MCP 引擎驱动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379476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79476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8264" y="390448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数据库查询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425196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自然语言转 SQL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直连 PostgreSQL + PostGIS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79476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79476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390448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采砂报告生成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425196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RTK 测点 + 无人机影像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一键输出 Word 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7492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07492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3" y="518464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遥感变化检测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3" y="553212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SAM3 分割 + 双时相检测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河道侵占自动识别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07492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507492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8264" y="518464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切片管理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8264" y="553212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MVT / 3D Tiles / MBTiles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发布与异步构建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507492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5074920"/>
            <a:ext cx="82296" cy="1143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93024" y="5184648"/>
            <a:ext cx="3337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图表可视化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5532120"/>
            <a:ext cx="33375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对话式柱状 / 饼图 / 折线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ECharts 实时渲染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总体技术架构 —— 四层协同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234440"/>
            <a:ext cx="9784080" cy="96012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17320" y="1435608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展示层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380744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React 18 SPA：Leaflet 2D + Cesium 3D 双地图引擎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ECharts 图表 · 聊天面板 · 工具面板 · Word 报告在线预览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7880" y="2212848"/>
            <a:ext cx="365760" cy="219456"/>
          </a:xfrm>
          <a:prstGeom prst="downArrow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88720" y="2514600"/>
            <a:ext cx="9784080" cy="96012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7320" y="2715768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660904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FastAPI（:8006）· 88+ API 端点 · SSE 流式对话 / WebSocket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会话管理 · 文件上传 · 切片服务 · GeoServer REST 代理 · PM2 托管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97880" y="3493008"/>
            <a:ext cx="365760" cy="219456"/>
          </a:xfrm>
          <a:prstGeom prst="downArrow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3794760"/>
            <a:ext cx="9784080" cy="96012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995928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AI 引擎层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941064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LangGraph 状态图 + Qwen-Agent 工具基座（IntentAgent → Harness → TaskExecutor）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千问 LLM · Ollama 视觉模型 · SAM3 · RAGFlow / LlamaIndex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97880" y="4773168"/>
            <a:ext cx="365760" cy="219456"/>
          </a:xfrm>
          <a:prstGeom prst="downArrow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5074920"/>
            <a:ext cx="9784080" cy="96012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17320" y="5276088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221224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PostgreSQL + PostGIS（业务 / 空间数据）· SQLite（会话持久化）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GeoServer WMS/WFS · 高分影像 · 无人机航拍 · MVT 矢量瓦片 · 3D Tiles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外部依赖：PostgreSQL + PostGIS · GeoServer · QGIS MCP (Docker) · RagFlow / LlamaIndex · DashScope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AI 智能对话 —— 从“一句话”到“全自动分析”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965960" cy="137160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81328"/>
            <a:ext cx="17830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用户输入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74519"/>
            <a:ext cx="1746504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自然语言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一句话描述需求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59736" y="1874519"/>
            <a:ext cx="283464" cy="256032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1371600"/>
            <a:ext cx="1965960" cy="137160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481328"/>
            <a:ext cx="17830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意图识别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1874519"/>
            <a:ext cx="1746504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IntentAgent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LLM 结构化意图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+ 60+ 快速关键词路由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45736" y="1874519"/>
            <a:ext cx="283464" cy="256032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1371600"/>
            <a:ext cx="1965960" cy="137160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481328"/>
            <a:ext cx="17830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Agent 分派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1874519"/>
            <a:ext cx="1746504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AgentHarness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意图 → 领域 Agent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提示词 / 上下文组装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31736" y="1874519"/>
            <a:ext cx="283464" cy="256032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1371600"/>
            <a:ext cx="1965960" cy="1371600"/>
          </a:xfrm>
          <a:prstGeom prst="roundRect">
            <a:avLst>
              <a:gd name="adj" fmla="val 10000"/>
            </a:avLst>
          </a:prstGeom>
          <a:solidFill>
            <a:srgbClr val="DDEEFA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481328"/>
            <a:ext cx="17830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工具执行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1874519"/>
            <a:ext cx="1746504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TaskExecutor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LangGraph 三节点图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实时事件推送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17736" y="1874519"/>
            <a:ext cx="283464" cy="256032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0" y="1371600"/>
            <a:ext cx="1965960" cy="137160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481328"/>
            <a:ext cx="17830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结果合成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874519"/>
            <a:ext cx="1746504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Response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自然语言回复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+ 地图 / 图表指令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8BC0"/>
                </a:solidFill>
                <a:latin typeface="微软雅黑"/>
                <a:ea typeface="微软雅黑"/>
              </a:rPr>
              <a:t>五大领域 Agent：按意图自动分派，可插拔扩展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47472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474720"/>
            <a:ext cx="82296" cy="13716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8444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MapAgent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931920"/>
            <a:ext cx="180136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地图展示 · 位置搜索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空间处理 / 空间参考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347472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0" y="3474720"/>
            <a:ext cx="82296" cy="1371600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358444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DataAgent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931920"/>
            <a:ext cx="180136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数据查询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可视化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347472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0" y="3474720"/>
            <a:ext cx="82296" cy="13716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79" y="358444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KnowledgeAgent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79" y="3931920"/>
            <a:ext cx="180136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知识库检索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规范问答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347472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0" y="3474720"/>
            <a:ext cx="82296" cy="1371600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358444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ReportAgent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0" y="3931920"/>
            <a:ext cx="180136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报告生成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采砂报告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0" y="347472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0" y="3474720"/>
            <a:ext cx="82296" cy="13716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3584448"/>
            <a:ext cx="180136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GeneralAgent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3931920"/>
            <a:ext cx="180136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兜底 · 跨意图复合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22303E"/>
                </a:solidFill>
                <a:latin typeface="微软雅黑"/>
                <a:ea typeface="微软雅黑"/>
              </a:rPr>
              <a:t>天气 / 未知意图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120640"/>
            <a:ext cx="11274552" cy="1005840"/>
          </a:xfrm>
          <a:prstGeom prst="roundRect">
            <a:avLst>
              <a:gd name="adj" fmla="val 12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285232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09A1F"/>
                </a:solidFill>
                <a:latin typeface="微软雅黑"/>
                <a:ea typeface="微软雅黑"/>
              </a:rPr>
              <a:t>执行示例：</a:t>
            </a: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“查看潢河郝楼可采区的河道侵占情况”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空间关键词识别 → 获取红线边界 → 查询侵占图斑 → 加载地图 → 生成分析文档（全程 LangGraph 自动编排）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工具体系 —— 15+ 模块协同工作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82296" cy="219456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435607"/>
            <a:ext cx="3300984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地图与 3D 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783080"/>
            <a:ext cx="3300984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map_tool — 2D 地图操作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cesium_tool — 3D 飞行 / 叠加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overlay / satellite 瓦片服务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325880"/>
            <a:ext cx="82296" cy="219456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435607"/>
            <a:ext cx="3300984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数据查询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783080"/>
            <a:ext cx="3300984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postgresql_tool — NL2SQL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mcp_postgres_tool — MCP 查询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schema_manager — 表结构管理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2588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25880"/>
            <a:ext cx="82296" cy="219456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435607"/>
            <a:ext cx="3300984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空间分析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783080"/>
            <a:ext cx="3300984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qgis_mcp_tool — QGIS 引擎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spatial_processing — 坐标转换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spatial_reference — 红线/采区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0332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82296" cy="219456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813048"/>
            <a:ext cx="3300984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遥感与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160520"/>
            <a:ext cx="3300984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sam_predict — SAM3 分割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resam / ssa — 检测模型训练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weather_tool — 天气查询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0332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703320"/>
            <a:ext cx="82296" cy="219456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3813048"/>
            <a:ext cx="3300984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160520"/>
            <a:ext cx="3300984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ragflow_knowledge_tool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llamaindex_knowledge_tool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knowledge_graph — Kuzu 图谱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70332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703320"/>
            <a:ext cx="82296" cy="219456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3813048"/>
            <a:ext cx="3300984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报告与可视化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160520"/>
            <a:ext cx="3300984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report_generator_tool — Word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caisha_report_tool — 采砂报告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data_visualizer — ECharts 图表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144768"/>
            <a:ext cx="11274552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多模态遥感检测 —— 河道侵占自动识别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82296" cy="32918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3081527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① SAM3 全图分割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3081527" cy="2743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高分影像地物分割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水体 / 建筑 / 植被 / 道路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双头掩码融合提升小目标精度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前端 SAMPanel 交互标注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7639" y="2834640"/>
            <a:ext cx="384048" cy="274320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70248" y="1371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371600"/>
            <a:ext cx="82296" cy="329184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481328"/>
            <a:ext cx="3081527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② 双时相变化检测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828800"/>
            <a:ext cx="3081527" cy="2743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OmniOVCD 变化检测框架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自动发现新增建筑 / 道路扩张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本地 Ollama 视觉模型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DashScope 千问 VL 双后端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90688" y="2834640"/>
            <a:ext cx="384048" cy="274320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371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371600"/>
            <a:ext cx="82296" cy="3291840"/>
          </a:xfrm>
          <a:prstGeom prst="rect">
            <a:avLst/>
          </a:prstGeom>
          <a:solidFill>
            <a:srgbClr val="F0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481328"/>
            <a:ext cx="3081527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③ 图斑智能后处理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1828800"/>
            <a:ext cx="3081527" cy="2743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重叠合并 · 聚集密度分析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大面积单体规则（≥5000㎡）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VLM 二次确认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归类：确认 / 疑似 / 排除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29200"/>
            <a:ext cx="11274552" cy="960120"/>
          </a:xfrm>
          <a:prstGeom prst="roundRect">
            <a:avLst>
              <a:gd name="adj" fmla="val 12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75504"/>
            <a:ext cx="1060704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3D6E"/>
                </a:solidFill>
                <a:latin typeface="微软雅黑"/>
                <a:ea typeface="微软雅黑"/>
              </a:rPr>
              <a:t>三阶段流水线全自动运行：</a:t>
            </a:r>
            <a:r>
              <a:rPr sz="1350" b="0">
                <a:solidFill>
                  <a:srgbClr val="22303E"/>
                </a:solidFill>
                <a:latin typeface="微软雅黑"/>
                <a:ea typeface="微软雅黑"/>
              </a:rPr>
              <a:t>影像 → 图斑 → 结论，无需人工干预；检测结果可直接叠加到 2D/3D 地图并生成报告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</a:rPr>
              <a:t>试点：潢河郝楼、白露河黄堰等采区 · 已处理数十平方公里高分影像 · 识别数百处疑似侵占图斑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图斑智能后处理 —— 从碎片到可操作结论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1645920" cy="14630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75564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原始检测图斑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148840"/>
            <a:ext cx="1499616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4,800+ 个碎片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21408" y="2212848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2576" y="1645920"/>
            <a:ext cx="1645920" cy="1463040"/>
          </a:xfrm>
          <a:prstGeom prst="roundRect">
            <a:avLst>
              <a:gd name="adj" fmla="val 10000"/>
            </a:avLst>
          </a:prstGeom>
          <a:solidFill>
            <a:srgbClr val="E4F2EA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175564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重叠合并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148840"/>
            <a:ext cx="1499616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buffer-union-shrink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合并为 ~2,900 个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86783" y="2212848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87952" y="1645920"/>
            <a:ext cx="1645920" cy="14630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1104" y="175564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聚集密度分析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148840"/>
            <a:ext cx="1499616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聚集度评分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空间密度评估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52159" y="2212848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53328" y="1645920"/>
            <a:ext cx="1645920" cy="1463040"/>
          </a:xfrm>
          <a:prstGeom prst="roundRect">
            <a:avLst>
              <a:gd name="adj" fmla="val 10000"/>
            </a:avLst>
          </a:prstGeom>
          <a:solidFill>
            <a:srgbClr val="E4F2EA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75564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规则判定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148840"/>
            <a:ext cx="1499616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大面积单体 ≥5000㎡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自动标记可疑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17536" y="2212848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18704" y="1645920"/>
            <a:ext cx="1645920" cy="14630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175564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VLM 二次确认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2148840"/>
            <a:ext cx="1499616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视觉语言模型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人工复核兜底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82912" y="2212848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84080" y="1645920"/>
            <a:ext cx="1645920" cy="1463040"/>
          </a:xfrm>
          <a:prstGeom prst="roundRect">
            <a:avLst>
              <a:gd name="adj" fmla="val 10000"/>
            </a:avLst>
          </a:prstGeom>
          <a:solidFill>
            <a:srgbClr val="E4F2EA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175564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分类输出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148840"/>
            <a:ext cx="1499616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确认 / 疑似 / 排除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人工审核量 ↓70%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977639"/>
            <a:ext cx="11274552" cy="137160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60520"/>
            <a:ext cx="106070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9A1F"/>
                </a:solidFill>
                <a:latin typeface="微软雅黑"/>
                <a:ea typeface="微软雅黑"/>
              </a:rPr>
              <a:t>效果：</a:t>
            </a: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原始数千个碎片图斑自动归纳为三类结论，人工审核量降低约 70%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独创“聚集密度分析”：图斑重叠合并 + 聚集密度评估 + 大面积单体规则 + VLM 确认四环节，构建完整自动化质检管道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E9E6B"/>
                </a:solidFill>
                <a:latin typeface="微软雅黑"/>
                <a:ea typeface="微软雅黑"/>
              </a:rPr>
              <a:t>价值：将遥感检测从“研究工具”变成“生产工具”，一线人员直接获得可处置的结论清单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双地图引擎 —— 2D 与 3D 无缝协同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82296" cy="329184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35607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2D 视图 · Leaflet（日常巡查 / 数据浏览）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83080"/>
            <a:ext cx="5138928" cy="2743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ArcGIS 切片 / 高分影像 / OSM 多底图切换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图层控制面板：采区边界、河道红线、检测图斑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点位抽稀算法 + 视口自适应渲染，海量数据流畅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交互式标注 / 测量 / 截图上传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3258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325880"/>
            <a:ext cx="82296" cy="32918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1435607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3D 视图 · CesiumJS（地形分析 / 工程展示）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1783080"/>
            <a:ext cx="5138928" cy="2743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3D Tiles 加载 + 无人机航拍模型叠加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飞行漫游、视角切换、地形分析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WebSocket 实时指令同步（/ws/cesium）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三维场景与后端服务双向通信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83480"/>
            <a:ext cx="11274552" cy="1051560"/>
          </a:xfrm>
          <a:prstGeom prst="roundRect">
            <a:avLst>
              <a:gd name="adj" fmla="val 12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38928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9A1F"/>
                </a:solidFill>
                <a:latin typeface="微软雅黑"/>
                <a:ea typeface="微软雅黑"/>
              </a:rPr>
              <a:t>协同机制：</a:t>
            </a:r>
            <a:r>
              <a:rPr sz="1400" b="0">
                <a:solidFill>
                  <a:srgbClr val="0F3D6E"/>
                </a:solidFill>
                <a:latin typeface="微软雅黑"/>
                <a:ea typeface="微软雅黑"/>
              </a:rPr>
              <a:t>共享图层数据与空间分析结果，AI 根据上下文自动路由 —— 宏观分析用 2D，地形展示用 3D，操作无缝同步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</a:rPr>
              <a:t>任一视图中的操作自动同步到另一视图，跨引擎上下文感知（2D 视图优先 Leaflet 工具，3D 视图路由 Cesium 工具）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智能报告生成 —— 从数据到专业文档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645920" cy="160020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8132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对话分析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901952"/>
            <a:ext cx="1499616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用户一句话描述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报告需求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21408" y="1993392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2576" y="1371600"/>
            <a:ext cx="1645920" cy="1600200"/>
          </a:xfrm>
          <a:prstGeom prst="roundRect">
            <a:avLst>
              <a:gd name="adj" fmla="val 10000"/>
            </a:avLst>
          </a:prstGeom>
          <a:solidFill>
            <a:srgbClr val="FAF3E4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148132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数据整合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1901952"/>
            <a:ext cx="1499616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RTK 测点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无人机影像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监测数据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86783" y="1993392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87952" y="1371600"/>
            <a:ext cx="1645920" cy="160020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1104" y="148132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地图截图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1901952"/>
            <a:ext cx="1499616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前端截图代理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捕获当前视图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图层/标注完整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52159" y="1993392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53328" y="1371600"/>
            <a:ext cx="1645920" cy="1600200"/>
          </a:xfrm>
          <a:prstGeom prst="roundRect">
            <a:avLst>
              <a:gd name="adj" fmla="val 10000"/>
            </a:avLst>
          </a:prstGeom>
          <a:solidFill>
            <a:srgbClr val="FAF3E4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48132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知识增强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901952"/>
            <a:ext cx="1499616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自动检索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水利标准条款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作为报告依据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17536" y="1993392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18704" y="1371600"/>
            <a:ext cx="1645920" cy="160020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148132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Word 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1901952"/>
            <a:ext cx="1499616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模板占位符填充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图表嵌入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一键成稿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82912" y="1993392"/>
            <a:ext cx="182880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84080" y="1371600"/>
            <a:ext cx="1645920" cy="1600200"/>
          </a:xfrm>
          <a:prstGeom prst="roundRect">
            <a:avLst>
              <a:gd name="adj" fmla="val 10000"/>
            </a:avLst>
          </a:prstGeom>
          <a:solidFill>
            <a:srgbClr val="FAF3E4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1481328"/>
            <a:ext cx="1499616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3D6E"/>
                </a:solidFill>
                <a:latin typeface="微软雅黑"/>
                <a:ea typeface="微软雅黑"/>
              </a:rPr>
              <a:t>在线预览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1901952"/>
            <a:ext cx="1499616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Mammoth 转 HTML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新标签预览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</a:rPr>
              <a:t>打印 / 下载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83280"/>
            <a:ext cx="11274552" cy="1234440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547872"/>
            <a:ext cx="1060704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09A1F"/>
                </a:solidFill>
                <a:latin typeface="微软雅黑"/>
                <a:ea typeface="微软雅黑"/>
              </a:rPr>
              <a:t>特色能力：</a:t>
            </a:r>
            <a:r>
              <a:rPr sz="1350" b="1">
                <a:solidFill>
                  <a:srgbClr val="0F3D6E"/>
                </a:solidFill>
                <a:latin typeface="微软雅黑"/>
                <a:ea typeface="微软雅黑"/>
              </a:rPr>
              <a:t>对话即报告 —— 地图截图自动嵌入 + 法规条款自动引用 + 在线预览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支持采砂监测专项报告（caisha_report_tool）与通用报告（report_generator_tool），模板由 create_template.py / update_template.py 统一维护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API：/api/preview/report（HTML 预览）· /api/download/report（下载）· /api/save-screenshot（截图上传）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E9E6B"/>
                </a:solidFill>
                <a:latin typeface="微软雅黑"/>
                <a:ea typeface="微软雅黑"/>
              </a:rPr>
              <a:t>价值：大幅减轻基层周报 / 月报编写负担，让报告既有数据又有空间可视化佐证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知识库智能检索 —— 让 AI 回答有据可依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82296" cy="32004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35607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双后端架构（KNOWLEDGE_BACKEND 切换）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83080"/>
            <a:ext cx="5138928" cy="2651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RagFlow（默认）：远程知识库服务，文档解析 + 向量检索 + 重排序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LlamaIndex（本地）：DashScope Embedding + Kuzu 图数据库知识图谱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一键迁移脚本：migrate_kb_to_llamaindex.py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知识图谱可视化查询（/api/knowledge/graph）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3258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325880"/>
            <a:ext cx="82296" cy="32004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1435607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知识覆盖与智能兜底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1783080"/>
            <a:ext cx="5138928" cy="2651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150+ 篇水利标准与法规：采砂规范 / 监测规范 / 实时实施方案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可视化管理界面：上传 / 更新 / 删除文档（KnowledgeBaseManager）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智能兜底：数据库查询无结果时自动回退知识库检索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回答引用原文条款，信息准确可追溯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11274552" cy="1188720"/>
          </a:xfrm>
          <a:prstGeom prst="roundRect">
            <a:avLst>
              <a:gd name="adj" fmla="val 12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10912"/>
            <a:ext cx="1060704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09A1F"/>
                </a:solidFill>
                <a:latin typeface="微软雅黑"/>
                <a:ea typeface="微软雅黑"/>
              </a:rPr>
              <a:t>应用价值：</a:t>
            </a:r>
            <a:r>
              <a:rPr sz="1350" b="0">
                <a:solidFill>
                  <a:srgbClr val="0F3D6E"/>
                </a:solidFill>
                <a:latin typeface="微软雅黑"/>
                <a:ea typeface="微软雅黑"/>
              </a:rPr>
              <a:t>新员工“随身导师” —— 回答河道管理条例、技术标准等专业问题并引用原文；报告生成自动检索法规作为依据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导入脚本：ingest_caisha_md.py（采砂规范）· ingest_jiance_md.py（监测规范）· ingest_shishifangan_multi.py（实施方案）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空间智能感知 —— AI 如何理解“红线附近”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11274552" cy="914400"/>
          </a:xfrm>
          <a:prstGeom prst="roundRect">
            <a:avLst>
              <a:gd name="adj" fmla="val 12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106070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“查看潢河郝楼可采区的河道侵占情况” → </a:t>
            </a:r>
            <a:r>
              <a:rPr sz="1500" b="1">
                <a:solidFill>
                  <a:srgbClr val="27A9E0"/>
                </a:solidFill>
                <a:latin typeface="微软雅黑"/>
                <a:ea typeface="微软雅黑"/>
              </a:rPr>
              <a:t>一句自然语言触发完整空间分析链路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1460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识别空间关键词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郝楼可采区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87751" y="2907792"/>
            <a:ext cx="256032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43784" y="251460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265176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获取红线边界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301752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空间参考工具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74336" y="2907792"/>
            <a:ext cx="256032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30368" y="251460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7" y="265176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查询侵占图斑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301752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PostGIS 查询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360919" y="2907792"/>
            <a:ext cx="256032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16952" y="251460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265176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地图加载展示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301752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map_tool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47503" y="2907792"/>
            <a:ext cx="256032" cy="219456"/>
          </a:xfrm>
          <a:prstGeom prst="rightArrow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03536" y="251460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265176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F3D6E"/>
                </a:solidFill>
                <a:latin typeface="微软雅黑"/>
                <a:ea typeface="微软雅黑"/>
              </a:rPr>
              <a:t>生成分析报告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4976" y="3017520"/>
            <a:ext cx="1920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report_tool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15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3986784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spatial_reference_tool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922776"/>
            <a:ext cx="6812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河道红线 / 采区边界查询，“红线附近 / 范围内”空间语义自动识别并注入后续查询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681728"/>
            <a:ext cx="11274552" cy="731520"/>
          </a:xfrm>
          <a:prstGeom prst="roundRect">
            <a:avLst>
              <a:gd name="adj" fmla="val 15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4828032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spatial_processing_tool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764024"/>
            <a:ext cx="6812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坐标投影转换、XY 交换、CGCS2000 带号处理、GeoJSON 矢量生成与地图加载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22976"/>
            <a:ext cx="11274552" cy="731520"/>
          </a:xfrm>
          <a:prstGeom prst="roundRect">
            <a:avLst>
              <a:gd name="adj" fmla="val 15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5669280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qgis_workflows + gis_tool_router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605272"/>
            <a:ext cx="6812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QGIS MCP Docker 引擎：缓冲区 / 裁剪 / 叠加 / 相交 / 面积计算 / 分区统计 recipe 工作流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82296" cy="219456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河道侵占监管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5138928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遥感影像自动识别违章建筑 / 非法采砂 / 侵占水域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自动生成检测报告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试点：潢河郝楼、白露河黄堰采区 · 数十平方公里影像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82296" cy="2194560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481328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采砂业务管理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1828800"/>
            <a:ext cx="5138928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采区边界管理、采砂许可查询、开采量统计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“红线内是否存在违规开采”复杂空间查询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采砂监测数据 NL2SQL 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82296" cy="219456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58768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工程报表与决策辅助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5138928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自动生成含地图截图、图表、结论的综合报告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周报 / 月报周期性报表快速生成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大幅减轻基层文档编写负担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49039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49039"/>
            <a:ext cx="82296" cy="2194560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3858768"/>
            <a:ext cx="513892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3D6E"/>
                </a:solidFill>
                <a:latin typeface="微软雅黑"/>
                <a:ea typeface="微软雅黑"/>
              </a:rPr>
              <a:t>知识问答与培训支持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206240"/>
            <a:ext cx="5138928" cy="16459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水利规范 / 政策问答并引用原文条款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新员工“随身导师”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数据查询无结果自动回退知识库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35040"/>
            <a:ext cx="11274552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项目规模与技术指标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61188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8BC0"/>
                </a:solidFill>
                <a:latin typeface="微软雅黑"/>
                <a:ea typeface="微软雅黑"/>
              </a:rPr>
              <a:t>~24,000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32461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核心代码行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Python 13,700 + React 9,600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71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600200"/>
            <a:ext cx="361188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8BC0"/>
                </a:solidFill>
                <a:latin typeface="微软雅黑"/>
                <a:ea typeface="微软雅黑"/>
              </a:rPr>
              <a:t>88+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32461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API 端点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对话 / 会话 / GIS / 切片 / 知识库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600200"/>
            <a:ext cx="361188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8BC0"/>
                </a:solidFill>
                <a:latin typeface="微软雅黑"/>
                <a:ea typeface="微软雅黑"/>
              </a:rPr>
              <a:t>15+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23160"/>
            <a:ext cx="32461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核心工具模块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地图 / 数据库 / 检测 / 知识库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361188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8BC0"/>
                </a:solidFill>
                <a:latin typeface="微软雅黑"/>
                <a:ea typeface="微软雅黑"/>
              </a:rPr>
              <a:t>150+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32461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知识库文档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水利标准与法规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657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886200"/>
            <a:ext cx="361188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8BC0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709160"/>
            <a:ext cx="32461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领域 Agent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地图 / 数据 / 知识 / 报告 / 兜底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886200"/>
            <a:ext cx="361188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8BC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709160"/>
            <a:ext cx="32461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地图引擎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Leaflet 2D + Cesium 3D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35040"/>
            <a:ext cx="11274552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数据格式：GeoJSON · Shapefile · GeoTIFF · MBTiles · 3D Tiles · MVT    |    pytest 覆盖 Harness / RunEngine / ContextManager / RulesGateway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8872" cy="475488"/>
          </a:xfrm>
          <a:prstGeom prst="rect">
            <a:avLst/>
          </a:prstGeom>
          <a:solidFill>
            <a:srgbClr val="27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3D6E"/>
                </a:solidFill>
                <a:latin typeface="微软雅黑"/>
                <a:ea typeface="微软雅黑"/>
              </a:rPr>
              <a:t>总结与未来展望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2E8BC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75488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Map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74552" cy="10972"/>
          </a:xfrm>
          <a:prstGeom prst="rect">
            <a:avLst/>
          </a:prstGeom>
          <a:solidFill>
            <a:srgbClr val="D5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豫水智能一张图 · Map Assistant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已实现 —— 完整能力闭环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74552" cy="822960"/>
          </a:xfrm>
          <a:prstGeom prst="roundRect">
            <a:avLst>
              <a:gd name="adj" fmla="val 15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83664"/>
            <a:ext cx="106070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3D6E"/>
                </a:solidFill>
                <a:latin typeface="微软雅黑"/>
                <a:ea typeface="微软雅黑"/>
              </a:rPr>
              <a:t>对话式地图操作 · 遥感侵占识别 · 智能报告 · 知识库问答 · 空间分析 · 数据可视化 · 切片管理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124712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未来方向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82296" cy="1554480"/>
          </a:xfrm>
          <a:prstGeom prst="rect">
            <a:avLst/>
          </a:prstGeom>
          <a:solidFill>
            <a:srgbClr val="F0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01568"/>
            <a:ext cx="326440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深化变化检测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39"/>
            <a:ext cx="3264408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多时相遥感月度级河道侵占自动巡查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2918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291840"/>
            <a:ext cx="82296" cy="1554480"/>
          </a:xfrm>
          <a:prstGeom prst="rect">
            <a:avLst/>
          </a:prstGeom>
          <a:solidFill>
            <a:srgbClr val="F0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401568"/>
            <a:ext cx="326440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视频流 AI 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749039"/>
            <a:ext cx="3264408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无人机实时视频流支撑应急响应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2918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12700">
            <a:solidFill>
              <a:srgbClr val="D5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291840"/>
            <a:ext cx="82296" cy="1554480"/>
          </a:xfrm>
          <a:prstGeom prst="rect">
            <a:avLst/>
          </a:prstGeom>
          <a:solidFill>
            <a:srgbClr val="F0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401568"/>
            <a:ext cx="326440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6E"/>
                </a:solidFill>
                <a:latin typeface="微软雅黑"/>
                <a:ea typeface="微软雅黑"/>
              </a:rPr>
              <a:t>业务闭环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749039"/>
            <a:ext cx="3264408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打通政务系统数据接口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发现 → 执法处置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57800"/>
            <a:ext cx="11274552" cy="914400"/>
          </a:xfrm>
          <a:prstGeom prst="roundRect">
            <a:avLst>
              <a:gd name="adj" fmla="val 12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9E0"/>
                </a:solidFill>
                <a:latin typeface="微软雅黑"/>
                <a:ea typeface="微软雅黑"/>
              </a:rPr>
              <a:t>核心价值：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用 AI 技术降低专业工具使用门槛，让科技真正服务于基层水利管理，为“智慧水利”与“数字乡村”建设贡献力量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豫水智能一张图 - 项目总结</dc:title>
  <dc:subject/>
  <dc:creator>Map Assistant v1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